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12192000"/>
  <p:embeddedFontLst>
    <p:embeddedFont>
      <p:font typeface="Barlow" panose="00000500000000000000" pitchFamily="2" charset="0"/>
      <p:regular r:id="rId11"/>
    </p:embeddedFont>
    <p:embeddedFont>
      <p:font typeface="Barlow Bold" panose="00000800000000000000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Spline Sans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257"/>
    <a:srgbClr val="407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54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969566"/>
            <a:ext cx="1136622" cy="258961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22205" y="1020663"/>
            <a:ext cx="1541821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DDCA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20012" y="1284883"/>
            <a:ext cx="10751670" cy="283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Design and Simulation of 8-Bit Signed Binary Number using the Sign-Magnitude Method</a:t>
            </a:r>
            <a:endParaRPr lang="en-US" sz="5950" dirty="0"/>
          </a:p>
        </p:txBody>
      </p:sp>
      <p:sp>
        <p:nvSpPr>
          <p:cNvPr id="5" name="Text 3"/>
          <p:cNvSpPr/>
          <p:nvPr/>
        </p:nvSpPr>
        <p:spPr>
          <a:xfrm>
            <a:off x="720012" y="4336157"/>
            <a:ext cx="113612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0012" y="4743946"/>
            <a:ext cx="10751670" cy="1144488"/>
          </a:xfrm>
          <a:prstGeom prst="rect">
            <a:avLst/>
          </a:prstGeom>
          <a:noFill/>
          <a:ln/>
        </p:spPr>
        <p:txBody>
          <a:bodyPr wrap="square" lIns="0" tIns="68150" rIns="0" bIns="0" rtlCol="0" anchor="t">
            <a:normAutofit/>
          </a:bodyPr>
          <a:lstStyle/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</a:rPr>
              <a:t>2620030146-Sathvika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</a:rPr>
              <a:t>2620030159-Kaushal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</a:rPr>
              <a:t>2620030167-Sasidhar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</a:rPr>
              <a:t>2620030171- Renu Sree</a:t>
            </a:r>
            <a:endParaRPr lang="en-US" sz="13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04608-1C83-15B2-2381-2DD48A56C40F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8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30535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8-Bit Signed Binary Representation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5291898" y="2082105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 and simulation using the sign-magnitude method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291898" y="2642691"/>
            <a:ext cx="6179784" cy="3584773"/>
          </a:xfrm>
          <a:prstGeom prst="roundRect">
            <a:avLst>
              <a:gd name="adj" fmla="val 8609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17297" y="2668091"/>
            <a:ext cx="3064493" cy="1931591"/>
          </a:xfrm>
          <a:custGeom>
            <a:avLst/>
            <a:gdLst/>
            <a:ahLst/>
            <a:cxnLst/>
            <a:rect l="l" t="t" r="r" b="b"/>
            <a:pathLst>
              <a:path w="3064493" h="1931591">
                <a:moveTo>
                  <a:pt x="257169" y="0"/>
                </a:moveTo>
                <a:lnTo>
                  <a:pt x="3064493" y="0"/>
                </a:lnTo>
                <a:lnTo>
                  <a:pt x="3064493" y="1931591"/>
                </a:lnTo>
                <a:lnTo>
                  <a:pt x="0" y="1931591"/>
                </a:lnTo>
                <a:lnTo>
                  <a:pt x="0" y="257175"/>
                </a:lnTo>
                <a:arcTo wR="257169" hR="257175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8" name="Text 5"/>
          <p:cNvSpPr/>
          <p:nvPr/>
        </p:nvSpPr>
        <p:spPr>
          <a:xfrm>
            <a:off x="5522973" y="2873772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SIGN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522973" y="3282950"/>
            <a:ext cx="2653142" cy="111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 BIT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significant bit — determines polarity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1790" y="2668091"/>
            <a:ext cx="3064493" cy="1931591"/>
          </a:xfrm>
          <a:custGeom>
            <a:avLst/>
            <a:gdLst/>
            <a:ahLst/>
            <a:cxnLst/>
            <a:rect l="l" t="t" r="r" b="b"/>
            <a:pathLst>
              <a:path w="3064493" h="1931591">
                <a:moveTo>
                  <a:pt x="0" y="0"/>
                </a:moveTo>
                <a:lnTo>
                  <a:pt x="2807324" y="0"/>
                </a:lnTo>
                <a:arcTo wR="257169" hR="257175" stAng="16200000" swAng="5400000"/>
                <a:lnTo>
                  <a:pt x="3064493" y="1931591"/>
                </a:lnTo>
                <a:lnTo>
                  <a:pt x="0" y="1931591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668091"/>
            <a:ext cx="25399" cy="1931591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2" name="Text 9"/>
          <p:cNvSpPr/>
          <p:nvPr/>
        </p:nvSpPr>
        <p:spPr>
          <a:xfrm>
            <a:off x="8587466" y="2873772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MAGNITUDE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587466" y="3282950"/>
            <a:ext cx="2653142" cy="111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 BITS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Absolute value stored as ordinary binary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17297" y="4599682"/>
            <a:ext cx="6128986" cy="1602383"/>
          </a:xfrm>
          <a:custGeom>
            <a:avLst/>
            <a:gdLst/>
            <a:ahLst/>
            <a:cxnLst/>
            <a:rect l="l" t="t" r="r" b="b"/>
            <a:pathLst>
              <a:path w="6128986" h="1602383">
                <a:moveTo>
                  <a:pt x="0" y="0"/>
                </a:moveTo>
                <a:lnTo>
                  <a:pt x="6128986" y="0"/>
                </a:lnTo>
                <a:lnTo>
                  <a:pt x="6128986" y="1345208"/>
                </a:lnTo>
                <a:arcTo wR="257169" hR="257175" stAng="0" swAng="5400000"/>
                <a:lnTo>
                  <a:pt x="257169" y="1602383"/>
                </a:lnTo>
                <a:arcTo wR="257169" hR="257175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5" name="Shape 12"/>
          <p:cNvSpPr/>
          <p:nvPr/>
        </p:nvSpPr>
        <p:spPr>
          <a:xfrm>
            <a:off x="5317297" y="4599682"/>
            <a:ext cx="6128986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6" name="Text 13"/>
          <p:cNvSpPr/>
          <p:nvPr/>
        </p:nvSpPr>
        <p:spPr>
          <a:xfrm>
            <a:off x="5522973" y="4805363"/>
            <a:ext cx="57176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SIMULATION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522973" y="5214541"/>
            <a:ext cx="5717635" cy="781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Logisim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demonstration of field isolation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C97566-8A43-1E41-F1B0-A1FAB33CA46C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6659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Definition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537891"/>
            <a:ext cx="1136125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must the design accomplish?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461419"/>
            <a:ext cx="3441912" cy="34419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2371" y="2307828"/>
            <a:ext cx="455601" cy="455612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5188" y="2366913"/>
            <a:ext cx="269967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317297" y="2377380"/>
            <a:ext cx="262823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Allocate the Fields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317297" y="2857996"/>
            <a:ext cx="262823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Reserve </a:t>
            </a:r>
            <a:r>
              <a:rPr lang="en-US" sz="155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 bit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sign and </a:t>
            </a:r>
            <a:r>
              <a:rPr lang="en-US" sz="155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 bits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magnitude.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194668" y="2307828"/>
            <a:ext cx="455601" cy="455612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87485" y="2366913"/>
            <a:ext cx="269967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849595" y="2377380"/>
            <a:ext cx="2628338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Valid Values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849595" y="2857996"/>
            <a:ext cx="2628338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State the range and handle the duplicate encodings of zero. The representation must separate sign from absolute magnitude and be directly verifiable in Logisim.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662371" y="5185470"/>
            <a:ext cx="455601" cy="455612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5188" y="5244554"/>
            <a:ext cx="269967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317297" y="5255022"/>
            <a:ext cx="6160636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Demonstrate Behavior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317297" y="5735637"/>
            <a:ext cx="616063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Logisim to expose the sign and magnitude branches.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11EDE-EBC7-C631-07D0-EF8925382931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9720"/>
            <a:ext cx="1075167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Design &amp;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20012" y="1538188"/>
            <a:ext cx="1136125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sign bit, seven magnitude bits — </a:t>
            </a:r>
            <a:r>
              <a:rPr lang="en-US" sz="150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Value = (−1)^S × M</a:t>
            </a: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with S ∈ {0,1} and M stored as ordinary 7-bit binary.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0012" y="2264966"/>
            <a:ext cx="2474851" cy="1501973"/>
          </a:xfrm>
          <a:prstGeom prst="roundRect">
            <a:avLst>
              <a:gd name="adj" fmla="val 19583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113" y="2480072"/>
            <a:ext cx="2044649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SIGN · 1 BIT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5113" y="2939256"/>
            <a:ext cx="2044649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 = 0 → Positive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 = 1 → Negative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1687" y="2264966"/>
            <a:ext cx="2474950" cy="1501973"/>
          </a:xfrm>
          <a:prstGeom prst="roundRect">
            <a:avLst>
              <a:gd name="adj" fmla="val 19583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6788" y="2480072"/>
            <a:ext cx="2044748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MAGNITUDE · 7 BITS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96788" y="2939256"/>
            <a:ext cx="204474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M₆ M₅ M₄ M₃ M₂ M₁ M₀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Range: 0 to 127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3977184"/>
            <a:ext cx="2474851" cy="15146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3061" y="4198640"/>
            <a:ext cx="193035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Range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43061" y="4657824"/>
            <a:ext cx="1930352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Numerical range: </a:t>
            </a: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−127 to +127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1687" y="3977184"/>
            <a:ext cx="2474950" cy="15146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4735" y="4198640"/>
            <a:ext cx="193045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Dual Zero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704735" y="4657824"/>
            <a:ext cx="1930451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+0 = 00000000</a:t>
            </a: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−0 = 10000000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41408" y="2241550"/>
            <a:ext cx="5136625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Encoding Examples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341408" y="2724150"/>
            <a:ext cx="5136625" cy="3303786"/>
          </a:xfrm>
          <a:prstGeom prst="roundRect">
            <a:avLst>
              <a:gd name="adj" fmla="val 890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1408" y="3276898"/>
            <a:ext cx="5136625" cy="12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341408" y="3826470"/>
            <a:ext cx="5136625" cy="12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6341408" y="4376043"/>
            <a:ext cx="5136625" cy="12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341408" y="4925616"/>
            <a:ext cx="5136625" cy="12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341408" y="5475188"/>
            <a:ext cx="5136625" cy="12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543809" y="2848967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105771" y="2848967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8-Bit Code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43809" y="3398540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+45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9105771" y="3398540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00101101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543809" y="3948112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FF0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−45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105771" y="3948112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10101101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543809" y="4497685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FF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+127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105771" y="4497685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01111111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543809" y="5047258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+0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9105771" y="5047258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543809" y="5596830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8B00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−0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9105771" y="5596830"/>
            <a:ext cx="277944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10000000</a:t>
            </a:r>
            <a:endParaRPr lang="en-US" sz="15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18C5ED-FE50-FBCC-655B-89C903E1EA4E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69230"/>
            <a:ext cx="10751670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Logisim Design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20012" y="1292523"/>
            <a:ext cx="1136125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Route the word, then inspect the fields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084586"/>
            <a:ext cx="6862293" cy="3634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8652" y="4682355"/>
            <a:ext cx="1508169" cy="1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Place Input Pin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549478" y="4931208"/>
            <a:ext cx="1817344" cy="29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8-bit INPUT pin labeled INPUT.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95058" y="2726752"/>
            <a:ext cx="1508169" cy="1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Configure Splitter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85883" y="2975606"/>
            <a:ext cx="1817344" cy="14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 bit width 8 and fan-out 2.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57940" y="2580998"/>
            <a:ext cx="1508169" cy="1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Attach Probes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57940" y="2829852"/>
            <a:ext cx="1817344" cy="29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Probe SIGN (1) and MAGNITUDE (7).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98912" y="4682472"/>
            <a:ext cx="1508168" cy="1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Verify MSB Routing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98912" y="4931326"/>
            <a:ext cx="1817343" cy="29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Ensure bit 7 reaches sign output.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49406" y="1721545"/>
            <a:ext cx="352852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Signal Flow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49406" y="2033191"/>
            <a:ext cx="41381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r>
              <a:rPr lang="en-US" sz="1150" b="1" dirty="0">
                <a:solidFill>
                  <a:srgbClr val="00D9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SPLITTER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r>
              <a:rPr lang="en-US" sz="1150" b="1" dirty="0">
                <a:solidFill>
                  <a:srgbClr val="FF006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150" b="1" dirty="0">
                <a:solidFill>
                  <a:srgbClr val="8B00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MAGNITUDE 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9406" y="2355949"/>
            <a:ext cx="3528527" cy="8486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92486" y="2522835"/>
            <a:ext cx="311856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Pin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192486" y="2834481"/>
            <a:ext cx="31185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 data bits, labeled INPUT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9406" y="3310830"/>
            <a:ext cx="3528527" cy="8486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92486" y="3477716"/>
            <a:ext cx="311856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Splitter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192486" y="3789362"/>
            <a:ext cx="31185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Bit width = 8, fan-out = 2. Does not alter the code.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9406" y="4265712"/>
            <a:ext cx="3528527" cy="8486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92486" y="4432598"/>
            <a:ext cx="311856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192486" y="4744244"/>
            <a:ext cx="31185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1-bit sign output + 7-bit magnitude output</a:t>
            </a:r>
            <a:endParaRPr lang="en-US" sz="11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9406" y="5220593"/>
            <a:ext cx="3528527" cy="8486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92486" y="5387479"/>
            <a:ext cx="311856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Optional Display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192486" y="5699125"/>
            <a:ext cx="31185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Raw word verification probe</a:t>
            </a:r>
            <a:endParaRPr lang="en-US" sz="11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5E9652-D9F7-78E0-CB2B-D2BCA7474F68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04541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Logisim Implementation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521843"/>
            <a:ext cx="4562162" cy="1395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0361" y="2490291"/>
            <a:ext cx="56875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Circuit Breakdown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90361" y="2981722"/>
            <a:ext cx="568757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Signal processing system showing binary input (</a:t>
            </a:r>
            <a:r>
              <a:rPr lang="en-US" sz="160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0101101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representing </a:t>
            </a: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+45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passing through a splitter that divides the signal into SIGN and MAGNITUDE outputs.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613" y="4360466"/>
            <a:ext cx="3437844" cy="11183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6487" y="4385866"/>
            <a:ext cx="31559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76487" y="4795044"/>
            <a:ext cx="31559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8-bit word enters the circuit at the input pin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4226" y="4360466"/>
            <a:ext cx="3437844" cy="11183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6099" y="4385866"/>
            <a:ext cx="31559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Splitter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646099" y="4795044"/>
            <a:ext cx="31559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Bit 7 routed to SIGN; bits 6–0 routed to MAGNITUDE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839" y="4360466"/>
            <a:ext cx="3437844" cy="11183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15712" y="4385866"/>
            <a:ext cx="31559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Output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315712" y="4795044"/>
            <a:ext cx="31559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probes display isolated fields in real time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B1256-D007-5DA4-FD75-F4B540B26BF3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23193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Simulation Results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20012" y="1562993"/>
            <a:ext cx="1136125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Demo: Positive and Negative 45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20012" y="2094111"/>
            <a:ext cx="10751670" cy="2829123"/>
          </a:xfrm>
          <a:prstGeom prst="roundRect">
            <a:avLst>
              <a:gd name="adj" fmla="val 1056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012" y="2661841"/>
            <a:ext cx="1075167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0012" y="3226395"/>
            <a:ext cx="1075167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012" y="3790950"/>
            <a:ext cx="1075167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0012" y="4355505"/>
            <a:ext cx="1075167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11254" y="2094111"/>
            <a:ext cx="12457" cy="28291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5947" y="2094111"/>
            <a:ext cx="12457" cy="28291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80640" y="2094111"/>
            <a:ext cx="12457" cy="28291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6561" y="2100461"/>
            <a:ext cx="2684693" cy="561380"/>
          </a:xfrm>
          <a:custGeom>
            <a:avLst/>
            <a:gdLst/>
            <a:ahLst/>
            <a:cxnLst/>
            <a:rect l="l" t="t" r="r" b="b"/>
            <a:pathLst>
              <a:path w="2684693" h="561380">
                <a:moveTo>
                  <a:pt x="249132" y="0"/>
                </a:moveTo>
                <a:lnTo>
                  <a:pt x="2684693" y="0"/>
                </a:lnTo>
                <a:lnTo>
                  <a:pt x="2684693" y="561380"/>
                </a:lnTo>
                <a:lnTo>
                  <a:pt x="0" y="561380"/>
                </a:lnTo>
                <a:lnTo>
                  <a:pt x="0" y="249138"/>
                </a:lnTo>
                <a:arcTo wR="249132" hR="249138" stAng="10800000" swAng="5400000"/>
                <a:close/>
              </a:path>
            </a:pathLst>
          </a:custGeom>
          <a:solidFill>
            <a:srgbClr val="00FF41"/>
          </a:solidFill>
          <a:ln/>
        </p:spPr>
      </p:sp>
      <p:sp>
        <p:nvSpPr>
          <p:cNvPr id="13" name="Text 11"/>
          <p:cNvSpPr/>
          <p:nvPr/>
        </p:nvSpPr>
        <p:spPr>
          <a:xfrm>
            <a:off x="925787" y="2222599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411254" y="2100461"/>
            <a:ext cx="2684693" cy="56138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" name="Text 13"/>
          <p:cNvSpPr/>
          <p:nvPr/>
        </p:nvSpPr>
        <p:spPr>
          <a:xfrm>
            <a:off x="3613655" y="2222599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095947" y="2100461"/>
            <a:ext cx="2684693" cy="56138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98348" y="2222599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MAGNITUDE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780640" y="2100461"/>
            <a:ext cx="2684693" cy="561380"/>
          </a:xfrm>
          <a:custGeom>
            <a:avLst/>
            <a:gdLst/>
            <a:ahLst/>
            <a:cxnLst/>
            <a:rect l="l" t="t" r="r" b="b"/>
            <a:pathLst>
              <a:path w="2684693" h="561380">
                <a:moveTo>
                  <a:pt x="0" y="0"/>
                </a:moveTo>
                <a:lnTo>
                  <a:pt x="2435561" y="0"/>
                </a:lnTo>
                <a:arcTo wR="249132" hR="249138" stAng="16200000" swAng="5400000"/>
                <a:lnTo>
                  <a:pt x="2684693" y="561380"/>
                </a:lnTo>
                <a:lnTo>
                  <a:pt x="0" y="561380"/>
                </a:lnTo>
                <a:lnTo>
                  <a:pt x="0" y="0"/>
                </a:lnTo>
                <a:close/>
              </a:path>
            </a:pathLst>
          </a:custGeom>
          <a:solidFill>
            <a:srgbClr val="00FF41"/>
          </a:solidFill>
          <a:ln/>
        </p:spPr>
      </p:sp>
      <p:sp>
        <p:nvSpPr>
          <p:cNvPr id="19" name="Text 17"/>
          <p:cNvSpPr/>
          <p:nvPr/>
        </p:nvSpPr>
        <p:spPr>
          <a:xfrm>
            <a:off x="8983041" y="2222599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5787" y="2787154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00101101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13655" y="2787154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98348" y="2787154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0101101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983041" y="2787154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+45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25787" y="3351709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10101101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613655" y="3351709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FF006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98348" y="3351709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0101101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983041" y="3351709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−45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25787" y="3916263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613655" y="3916263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00FF4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298348" y="3916263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983041" y="3916263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+0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25787" y="4480818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10000000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613655" y="4480818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8B00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298348" y="4480818"/>
            <a:ext cx="288947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983041" y="4480818"/>
            <a:ext cx="289265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−0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720012" y="5140424"/>
            <a:ext cx="10751670" cy="1094284"/>
          </a:xfrm>
          <a:prstGeom prst="roundRect">
            <a:avLst>
              <a:gd name="adj" fmla="val 27320"/>
            </a:avLst>
          </a:prstGeom>
          <a:solidFill>
            <a:srgbClr val="00805A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39" y="5418534"/>
            <a:ext cx="249132" cy="19923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367597" y="5383312"/>
            <a:ext cx="9904859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Toggling the MSB (Sign Bit) flips the sign of the number while the 7-bit magnitude field remains identical — confirming the splitter correctly isolates the fields.</a:t>
            </a:r>
            <a:endParaRPr lang="en-US" sz="15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C25EBE-1841-21C1-299D-4258A34619F4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1653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Key Takeaways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196604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project successfully explored the 8-bit signed binary representation, demonstrating its design principles and practical application.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012" y="3086398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4268" y="3146326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388532" y="3157041"/>
            <a:ext cx="27439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Sign-Magnitude Clarity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88532" y="3566220"/>
            <a:ext cx="274392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sign-magnitude method provides a straightforward way to represent signed numbers, clearly separating polarity from the absolute value.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625" y="3086398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3881" y="3146326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058145" y="3157041"/>
            <a:ext cx="27439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Logisim Validation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058145" y="3566220"/>
            <a:ext cx="274392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Logisim simulation effectively verified the isolation of sign and magnitude fields, confirming the design's integrity.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59238" y="3086398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3494" y="3146326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727757" y="3157041"/>
            <a:ext cx="27439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Digital Logic Foundation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727757" y="3566220"/>
            <a:ext cx="274392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Understanding binary representations like sign-magnitude is fundamental for developing and debugging digital logic circuits and systems.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CA9A6-C233-6F5E-40DF-3CC7B54793CB}"/>
              </a:ext>
            </a:extLst>
          </p:cNvPr>
          <p:cNvSpPr/>
          <p:nvPr/>
        </p:nvSpPr>
        <p:spPr>
          <a:xfrm>
            <a:off x="10811381" y="6491318"/>
            <a:ext cx="1320602" cy="3079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554</Words>
  <Application>Microsoft Office PowerPoint</Application>
  <PresentationFormat>Widescreen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Barlow</vt:lpstr>
      <vt:lpstr>Consolas</vt:lpstr>
      <vt:lpstr>Barlow Bold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kaushald0407@outlook.com</cp:lastModifiedBy>
  <cp:revision>6</cp:revision>
  <dcterms:created xsi:type="dcterms:W3CDTF">2026-08-26T05:15:30Z</dcterms:created>
  <dcterms:modified xsi:type="dcterms:W3CDTF">2026-08-26T07:05:31Z</dcterms:modified>
</cp:coreProperties>
</file>